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иса Гасяк" initials="АГ" lastIdx="1" clrIdx="0">
    <p:extLst>
      <p:ext uri="{19B8F6BF-5375-455C-9EA6-DF929625EA0E}">
        <p15:presenceInfo xmlns:p15="http://schemas.microsoft.com/office/powerpoint/2012/main" userId="ee21bb3abcc549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4323141-B866-4C04-E693-6ADB503BDA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E75786-9994-7D13-B127-42CB0207A7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4DB2-B83F-4671-A0C0-2F892B26B2DB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9C9B1C-CF37-8E47-B773-52CA9567B6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FFBB87-3D12-3CC9-8FB2-6531719775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B55F9-C47C-4C98-97C5-214AC3E82A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753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731C6-9D26-49EC-9796-CCBF64806461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D700C-4F56-494A-9EAC-9678A58D2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5841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1F31-75C1-483B-BAAF-6800B87980DB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68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62E2-4F13-4A25-B504-6B3BBBB39E04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41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2D3C-6476-4CCB-B487-03CD18D7160C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90BB-2458-4280-A2FA-CE34F8E45F18}" type="datetime1">
              <a:rPr lang="ru-RU" smtClean="0"/>
              <a:t>30.04.2025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7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D679-2800-4FC0-8357-95DCAFDCEA34}" type="datetime1">
              <a:rPr lang="ru-RU" smtClean="0"/>
              <a:t>30.04.2025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19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641D-9E0C-4223-A5A8-E738A110A276}" type="datetime1">
              <a:rPr lang="ru-RU" smtClean="0"/>
              <a:t>30.04.2025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62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26AD-1F48-425B-9E1B-171BFB25AA91}" type="datetime1">
              <a:rPr lang="ru-RU" smtClean="0"/>
              <a:t>30.04.2025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59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81409DC-8AD1-4836-B961-1B0AC02E7E57}" type="datetime1">
              <a:rPr lang="ru-RU" smtClean="0"/>
              <a:t>30.04.2025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26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1FFA7-3F95-4DEA-AF88-14D49E756FA0}" type="datetime1">
              <a:rPr lang="ru-RU" smtClean="0"/>
              <a:t>30.04.2025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600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3F25-67A7-46BC-885D-6FFD889392A5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66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E554-72C5-4BC1-B1EF-85D642F07B20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9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103FD87-9572-4FB3-BE7B-FAC873D195E7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464CFED-B674-43A4-9464-F68B60C3678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45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F005B-5984-DE0F-5CDF-242A49C1C3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Memento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962760-EDA5-4FDB-3A6E-87D1604F1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DEC0D-AA6E-ACF7-C061-9C9C184D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1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242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8BBEA-0614-FAA1-6C89-0BFA43B6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723207"/>
          </a:xfrm>
        </p:spPr>
        <p:txBody>
          <a:bodyPr/>
          <a:lstStyle/>
          <a:p>
            <a:r>
              <a:rPr lang="ru-RU" dirty="0"/>
              <a:t>Что это такое? 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5D3094CF-EECA-5AC1-483A-A1565CFCE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Memento (</a:t>
            </a:r>
            <a:r>
              <a:rPr lang="ru-RU" b="1" dirty="0"/>
              <a:t>Снимок)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27557B-E2D8-E55A-8905-D583C2DC5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727376"/>
            <a:ext cx="4107070" cy="3811588"/>
          </a:xfrm>
        </p:spPr>
        <p:txBody>
          <a:bodyPr/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«Снимок» или «Хранитель» – это поведенческий шаблон проектирования, позволяющий зафиксировать и сохранить внутреннее состояние объекта так, чтобы позднее восстановить его в это состояние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CAE3A7-DD16-77CE-1A6C-9BC65D60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028" y="1560747"/>
            <a:ext cx="7056342" cy="48736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973A74-659E-AEEF-1EBB-2D4E05C2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2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7243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BB158-0E9C-552F-864F-02B95BE5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739833"/>
          </a:xfrm>
        </p:spPr>
        <p:txBody>
          <a:bodyPr/>
          <a:lstStyle/>
          <a:p>
            <a:r>
              <a:rPr lang="ru-RU" dirty="0"/>
              <a:t>Структура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27FAFB3-AA29-5A98-C6EC-63704E2D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0600" y="2511119"/>
            <a:ext cx="6492875" cy="1699237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A7BBEE36-ECB6-9A15-7A97-1D68FB2D0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076" y="1719921"/>
            <a:ext cx="3932237" cy="3811588"/>
          </a:xfrm>
        </p:spPr>
        <p:txBody>
          <a:bodyPr/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Создатель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(Originator)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создаёт снимки своего состояния.</a:t>
            </a:r>
          </a:p>
          <a:p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Снимок/Хранитель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Memento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– содержит состояние создателя.</a:t>
            </a:r>
          </a:p>
          <a:p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Опекун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Caretaker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– хранит историю состояний, и когда нужно, восстанавливает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98C604-1E79-C936-0CCE-F4295C2A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3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2978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888E2-BDFA-7687-BCE4-6E5EB44A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964" y="366538"/>
            <a:ext cx="3932237" cy="1082495"/>
          </a:xfrm>
        </p:spPr>
        <p:txBody>
          <a:bodyPr>
            <a:noAutofit/>
          </a:bodyPr>
          <a:lstStyle/>
          <a:p>
            <a:r>
              <a:rPr lang="ru-RU" dirty="0"/>
              <a:t>Варианты реализации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0D38A-6352-A0FD-1DA2-883C61055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2612" y="1846285"/>
            <a:ext cx="3200400" cy="4835727"/>
          </a:xfrm>
        </p:spPr>
        <p:txBody>
          <a:bodyPr>
            <a:normAutofit/>
          </a:bodyPr>
          <a:lstStyle/>
          <a:p>
            <a:r>
              <a:rPr lang="ru-RU" sz="1800" b="1" u="sng" dirty="0"/>
              <a:t>Классический</a:t>
            </a:r>
            <a:r>
              <a:rPr lang="ru-RU" sz="1800" dirty="0"/>
              <a:t> – даёт доступ к состояниям «Создателя» и «Снимка» через методы.</a:t>
            </a:r>
          </a:p>
          <a:p>
            <a:r>
              <a:rPr lang="ru-RU" sz="1800" b="1" u="sng" dirty="0"/>
              <a:t>Нестандартный</a:t>
            </a:r>
            <a:r>
              <a:rPr lang="ru-RU" sz="1800" dirty="0"/>
              <a:t> – обеспечивает прямой доступ к состояниям.</a:t>
            </a:r>
          </a:p>
          <a:p>
            <a:r>
              <a:rPr lang="ru-RU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 с пустым промежуточным интерфейсом </a:t>
            </a:r>
            <a:r>
              <a:rPr lang="ru-RU" sz="1800" dirty="0"/>
              <a:t>–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подходит для языков, не имеющих механизма вложенных классов. </a:t>
            </a:r>
          </a:p>
          <a:p>
            <a:r>
              <a:rPr lang="ru-RU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 снимка с повышенной защитой </a:t>
            </a:r>
            <a:r>
              <a:rPr lang="ru-RU" sz="1800" dirty="0"/>
              <a:t>–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полностью исключает доступ к состоянию «Создателей» и «Снимков».</a:t>
            </a:r>
            <a:endParaRPr lang="ru-RU" sz="18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B8E964B-D663-EFB0-79E4-56FF62976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53"/>
          <a:stretch/>
        </p:blipFill>
        <p:spPr>
          <a:xfrm>
            <a:off x="4137232" y="0"/>
            <a:ext cx="3807355" cy="2856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895D5D-59DC-619B-EA8E-20B8D42C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4" t="4692"/>
          <a:stretch/>
        </p:blipFill>
        <p:spPr>
          <a:xfrm>
            <a:off x="4192046" y="4336330"/>
            <a:ext cx="4091911" cy="23497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F734BA-45ED-8E73-357B-036DE7E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41"/>
          <a:stretch/>
        </p:blipFill>
        <p:spPr>
          <a:xfrm>
            <a:off x="8283957" y="1676177"/>
            <a:ext cx="3744124" cy="2466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E58B7400-8D98-7552-D652-089557CE9D9A}"/>
              </a:ext>
            </a:extLst>
          </p:cNvPr>
          <p:cNvGrpSpPr/>
          <p:nvPr/>
        </p:nvGrpSpPr>
        <p:grpSpPr>
          <a:xfrm>
            <a:off x="9192626" y="711730"/>
            <a:ext cx="2394410" cy="612648"/>
            <a:chOff x="9323109" y="1008668"/>
            <a:chExt cx="2394410" cy="612648"/>
          </a:xfrm>
        </p:grpSpPr>
        <p:sp>
          <p:nvSpPr>
            <p:cNvPr id="20" name="Облачко с текстом: прямоугольное со скругленными углами 19">
              <a:extLst>
                <a:ext uri="{FF2B5EF4-FFF2-40B4-BE49-F238E27FC236}">
                  <a16:creationId xmlns:a16="http://schemas.microsoft.com/office/drawing/2014/main" id="{E6D3A6EC-97A2-1A17-E85F-A9E17BFB08BB}"/>
                </a:ext>
              </a:extLst>
            </p:cNvPr>
            <p:cNvSpPr/>
            <p:nvPr/>
          </p:nvSpPr>
          <p:spPr>
            <a:xfrm>
              <a:off x="9323109" y="1008668"/>
              <a:ext cx="2394410" cy="612648"/>
            </a:xfrm>
            <a:prstGeom prst="wedgeRoundRectCallout">
              <a:avLst>
                <a:gd name="adj1" fmla="val -88364"/>
                <a:gd name="adj2" fmla="val 37881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3E95BD-94A0-4588-5A32-F17F6D1EA2C6}"/>
                </a:ext>
              </a:extLst>
            </p:cNvPr>
            <p:cNvSpPr txBox="1"/>
            <p:nvPr/>
          </p:nvSpPr>
          <p:spPr>
            <a:xfrm>
              <a:off x="9445658" y="1130326"/>
              <a:ext cx="21901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Классический метод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E4A7773-83B7-F1AE-39DA-478E52093DE1}"/>
              </a:ext>
            </a:extLst>
          </p:cNvPr>
          <p:cNvGrpSpPr/>
          <p:nvPr/>
        </p:nvGrpSpPr>
        <p:grpSpPr>
          <a:xfrm>
            <a:off x="4192046" y="3322189"/>
            <a:ext cx="3113842" cy="700354"/>
            <a:chOff x="4623419" y="3088790"/>
            <a:chExt cx="2675925" cy="733779"/>
          </a:xfrm>
        </p:grpSpPr>
        <p:sp>
          <p:nvSpPr>
            <p:cNvPr id="17" name="Облачко с текстом: прямоугольное со скругленными углами 16">
              <a:extLst>
                <a:ext uri="{FF2B5EF4-FFF2-40B4-BE49-F238E27FC236}">
                  <a16:creationId xmlns:a16="http://schemas.microsoft.com/office/drawing/2014/main" id="{6EB015C7-DD6D-DDA9-47D8-2A711AE4AD43}"/>
                </a:ext>
              </a:extLst>
            </p:cNvPr>
            <p:cNvSpPr/>
            <p:nvPr/>
          </p:nvSpPr>
          <p:spPr>
            <a:xfrm>
              <a:off x="4684049" y="3111581"/>
              <a:ext cx="2554664" cy="710988"/>
            </a:xfrm>
            <a:prstGeom prst="wedgeRoundRectCallout">
              <a:avLst>
                <a:gd name="adj1" fmla="val 82730"/>
                <a:gd name="adj2" fmla="val 2962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B667A5-9108-E081-060F-54FBE73EED0A}"/>
                </a:ext>
              </a:extLst>
            </p:cNvPr>
            <p:cNvSpPr txBox="1"/>
            <p:nvPr/>
          </p:nvSpPr>
          <p:spPr>
            <a:xfrm>
              <a:off x="4623419" y="3088790"/>
              <a:ext cx="26759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Метод с промежуточным</a:t>
              </a:r>
              <a:br>
                <a:rPr lang="ru-RU" dirty="0"/>
              </a:br>
              <a:r>
                <a:rPr lang="ru-RU" dirty="0"/>
                <a:t> интерфейсом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409FD60-B80A-409D-CE6F-92CA299FBE3F}"/>
              </a:ext>
            </a:extLst>
          </p:cNvPr>
          <p:cNvGrpSpPr/>
          <p:nvPr/>
        </p:nvGrpSpPr>
        <p:grpSpPr>
          <a:xfrm>
            <a:off x="9075209" y="5449576"/>
            <a:ext cx="2912412" cy="575036"/>
            <a:chOff x="9012685" y="5043340"/>
            <a:chExt cx="3006681" cy="526258"/>
          </a:xfrm>
        </p:grpSpPr>
        <p:sp>
          <p:nvSpPr>
            <p:cNvPr id="14" name="Облачко с текстом: прямоугольное со скругленными углами 13">
              <a:extLst>
                <a:ext uri="{FF2B5EF4-FFF2-40B4-BE49-F238E27FC236}">
                  <a16:creationId xmlns:a16="http://schemas.microsoft.com/office/drawing/2014/main" id="{A5130B4E-5CDF-C7BC-A427-12C1F32E2B11}"/>
                </a:ext>
              </a:extLst>
            </p:cNvPr>
            <p:cNvSpPr/>
            <p:nvPr/>
          </p:nvSpPr>
          <p:spPr>
            <a:xfrm>
              <a:off x="9012685" y="5043340"/>
              <a:ext cx="3006681" cy="526258"/>
            </a:xfrm>
            <a:prstGeom prst="wedgeRoundRectCallout">
              <a:avLst>
                <a:gd name="adj1" fmla="val -69160"/>
                <a:gd name="adj2" fmla="val -1349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82814A-C7DE-02B3-F635-25903EC4DBBA}"/>
                </a:ext>
              </a:extLst>
            </p:cNvPr>
            <p:cNvSpPr txBox="1"/>
            <p:nvPr/>
          </p:nvSpPr>
          <p:spPr>
            <a:xfrm>
              <a:off x="9012685" y="5133858"/>
              <a:ext cx="2798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Более защищённый метод</a:t>
              </a: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058FB0-E0F6-B19E-0820-B1B7BF7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4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44274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1EE1-6A6F-9DBB-B455-1128B72B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647FA-E722-AE7D-149F-8D1F7CDB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37"/>
            <a:ext cx="10515600" cy="549275"/>
          </a:xfrm>
        </p:spPr>
        <p:txBody>
          <a:bodyPr>
            <a:noAutofit/>
          </a:bodyPr>
          <a:lstStyle/>
          <a:p>
            <a:r>
              <a:rPr lang="ru-RU" sz="3600" dirty="0"/>
              <a:t>Реализация кода «С повышенной защитой»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DDF0A4-9399-075F-33B5-B5D1117F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5</a:t>
            </a:fld>
            <a:endParaRPr lang="ru-RU" sz="2800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6059815-446D-389F-446F-56D9B4CFBF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FA611E-8343-31DB-3D63-424584BD7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73" y="733107"/>
            <a:ext cx="5487035" cy="53917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E55546-131F-DE2B-0E1F-F79E5E863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1" y="746724"/>
            <a:ext cx="5940425" cy="1448435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4058FF5B-24BA-B1FB-856C-93ACE65A16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974081" y="2384869"/>
            <a:ext cx="4937125" cy="343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7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2F43C-E061-407D-B905-A17AEFCD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37"/>
            <a:ext cx="10515600" cy="549275"/>
          </a:xfrm>
        </p:spPr>
        <p:txBody>
          <a:bodyPr>
            <a:noAutofit/>
          </a:bodyPr>
          <a:lstStyle/>
          <a:p>
            <a:r>
              <a:rPr lang="ru-RU" sz="3600" dirty="0"/>
              <a:t>Код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D6741B-61EA-36F9-14B5-0C578426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6</a:t>
            </a:fld>
            <a:endParaRPr lang="ru-RU" sz="2800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1EA462A2-51A8-865B-004D-229E01CE7A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5567" y="586171"/>
            <a:ext cx="4938712" cy="38836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F48D86-0CA4-C9F4-63A7-5469DD60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66" y="4469794"/>
            <a:ext cx="4937759" cy="1887030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439F21F-7C0B-9810-A17C-F68F56624F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59461" y="735620"/>
            <a:ext cx="5543621" cy="443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4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FFBE-8173-CBB7-7D3B-C493C0CE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F8B18-BBD4-BFFB-61D7-B8999717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37"/>
            <a:ext cx="10515600" cy="549275"/>
          </a:xfrm>
        </p:spPr>
        <p:txBody>
          <a:bodyPr>
            <a:noAutofit/>
          </a:bodyPr>
          <a:lstStyle/>
          <a:p>
            <a:r>
              <a:rPr lang="ru-RU" sz="3600" dirty="0"/>
              <a:t>Код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43BE0F-3876-5E08-6C66-A5F46792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7</a:t>
            </a:fld>
            <a:endParaRPr lang="ru-RU" sz="2800" dirty="0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3FB6CD8B-BA00-9EDB-C71F-3F7CADC761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02254" y="1347500"/>
            <a:ext cx="7699526" cy="946999"/>
          </a:xfrm>
        </p:spPr>
      </p:pic>
      <p:pic>
        <p:nvPicPr>
          <p:cNvPr id="3" name="Объект 2">
            <a:extLst>
              <a:ext uri="{FF2B5EF4-FFF2-40B4-BE49-F238E27FC236}">
                <a16:creationId xmlns:a16="http://schemas.microsoft.com/office/drawing/2014/main" id="{A9E5D42F-1199-B34B-81D7-97700DB937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05765" y="915239"/>
            <a:ext cx="333422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7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9F03C-64AF-89DF-5DB4-F71B48A6F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38" y="713917"/>
            <a:ext cx="10515600" cy="865159"/>
          </a:xfrm>
        </p:spPr>
        <p:txBody>
          <a:bodyPr>
            <a:normAutofit/>
          </a:bodyPr>
          <a:lstStyle/>
          <a:p>
            <a:r>
              <a:rPr lang="ru-RU" sz="3600" dirty="0"/>
              <a:t>Плюсы и минусы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3BB5F6-02AB-F6C2-5BFF-9191D1C4E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Позволяет реализовать функции отмены и восстановления состояния без необходимости раскрывать внутренние детали объекта.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Упрощает управление состоянием, особенно в сложных системах.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6712FA-054F-A7E0-4697-97E4C900BE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Минусы: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Может потреблять много памяти, если хранится большое количество снимков.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Не всегда подходит для объектов с большими объемами данных, так как может привести к увеличению нагрузки на систему.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E9F5B4-BC69-09DE-5418-28597C73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8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76699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78BDC-C7CB-E8E8-B3CA-3AB3AB79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51518D-B496-C873-1915-C2416C5B4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10695654" cy="4023360"/>
          </a:xfrm>
        </p:spPr>
        <p:txBody>
          <a:bodyPr/>
          <a:lstStyle/>
          <a:p>
            <a:r>
              <a:rPr lang="sv-SE" dirty="0"/>
              <a:t>Снимок // Refactoring Guru URL: https://refactoringguru.cn/ru/design-patterns/memento </a:t>
            </a:r>
          </a:p>
          <a:p>
            <a:r>
              <a:rPr lang="ru-RU" dirty="0"/>
              <a:t>Паттерн ООП «Хранитель» // </a:t>
            </a:r>
            <a:r>
              <a:rPr lang="ru-RU" dirty="0" err="1"/>
              <a:t>Tproger</a:t>
            </a:r>
            <a:r>
              <a:rPr lang="ru-RU" dirty="0"/>
              <a:t> URL: https://tproger.ru/articles/pattern-oop-hranitel </a:t>
            </a:r>
          </a:p>
          <a:p>
            <a:r>
              <a:rPr lang="ru-RU" dirty="0"/>
              <a:t>Хранитель // Википедия URL: https://ru.wikipedia.org/wiki/Хранитель_(шаблон_проектирования) </a:t>
            </a:r>
            <a:endParaRPr lang="en-US" dirty="0"/>
          </a:p>
          <a:p>
            <a:r>
              <a:rPr lang="it-IT" dirty="0"/>
              <a:t>Pattern Memento // Хабр URL: https://habr.com/ru/articles/689948/ 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06CAF6-C789-5FD2-6179-193A6FF2A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3405" y="1097281"/>
            <a:ext cx="4937760" cy="4023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FD2098-D3CA-C499-6BFF-C99783FF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CFED-B674-43A4-9464-F68B60C36784}" type="slidenum">
              <a:rPr lang="ru-RU" sz="2800" smtClean="0"/>
              <a:t>9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6856234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10061</TotalTime>
  <Words>303</Words>
  <Application>Microsoft Office PowerPoint</Application>
  <PresentationFormat>Широкоэкранный</PresentationFormat>
  <Paragraphs>42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Ретро</vt:lpstr>
      <vt:lpstr>Memento</vt:lpstr>
      <vt:lpstr>Что это такое? </vt:lpstr>
      <vt:lpstr>Структура</vt:lpstr>
      <vt:lpstr>Варианты реализации</vt:lpstr>
      <vt:lpstr>Реализация кода «С повышенной защитой» </vt:lpstr>
      <vt:lpstr>Код</vt:lpstr>
      <vt:lpstr>Код</vt:lpstr>
      <vt:lpstr>Плюсы и минусы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Алиса Гасяк</dc:creator>
  <cp:lastModifiedBy>Алиса Гасяк</cp:lastModifiedBy>
  <cp:revision>17</cp:revision>
  <dcterms:created xsi:type="dcterms:W3CDTF">2025-04-03T04:07:46Z</dcterms:created>
  <dcterms:modified xsi:type="dcterms:W3CDTF">2025-04-30T19:28:51Z</dcterms:modified>
</cp:coreProperties>
</file>